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600">
                <a:solidFill>
                  <a:srgbClr val="172B4D"/>
                </a:solidFill>
                <a:latin typeface="NanumGothic"/>
                <a:latin typeface="NanumGothic"/>
                <a:ea typeface="NanumGothic"/>
                <a:cs typeface="NanumGothic"/>
              </a:rPr>
              <a:t>여러분, 오늘은 분수가 달라 보여도 같은 크기일 수 있다는 걸 같이 볼 거예요. 약분이 무엇인지도 오늘 처음 만납니다. 통분은 다음 시간에 이어서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600">
                <a:solidFill>
                  <a:srgbClr val="172B4D"/>
                </a:solidFill>
                <a:latin typeface="NanumGothic"/>
                <a:latin typeface="NanumGothic"/>
                <a:ea typeface="NanumGothic"/>
                <a:cs typeface="NanumGothic"/>
              </a:rPr>
              <a:t>여러분, 피자 한 판을 둘로 나눈 것 중 한 조각과, 넷으로 나눈 것 중 두 조각을 생각해 보세요. 조각 수는 다른데 먹은 양은 같을까요? 같다는 친구는 이유를, 다르다는 친구도 이유를 한 문장으로 말해 보게 하세요. 정답은 바로 말하지 말고, 다음 장의 막대 그림에서 확인한다고 예고합니다.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600">
                <a:solidFill>
                  <a:srgbClr val="172B4D"/>
                </a:solidFill>
                <a:latin typeface="NanumGothic"/>
                <a:latin typeface="NanumGothic"/>
                <a:ea typeface="NanumGothic"/>
                <a:cs typeface="NanumGothic"/>
              </a:rPr>
              <a:t>학습 문제를 학생이 읽게 하세요. 약분이라는 말은 분자와 분모를 0이 아닌 같은 수로 나누는 일이라고만 짧게 알려 주고, 예시는 다음 장에서 막대로 보게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600">
                <a:solidFill>
                  <a:srgbClr val="172B4D"/>
                </a:solidFill>
                <a:latin typeface="NanumGothic"/>
                <a:latin typeface="NanumGothic"/>
                <a:ea typeface="NanumGothic"/>
                <a:cs typeface="NanumGothic"/>
              </a:rPr>
              <a:t>아래 막대를 가리키며 말하세요. 네 칸 중 두 칸이 칠해져 있으니 2/4입니다. 여덟 칸 중 네 칸도 전체의 반이라 4/8입니다. 2 나누기 2는 1, 4 나누기 2는 2이니 2/4는 1/2입니다. 4 나누기 4는 1, 8 나누기 4는 2이니 4/8도 1/2입니다. 학생에게 두 막대의 색칠한 길이가 같은지 물어보세요.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600">
                <a:solidFill>
                  <a:srgbClr val="172B4D"/>
                </a:solidFill>
                <a:latin typeface="NanumGothic"/>
                <a:latin typeface="NanumGothic"/>
                <a:ea typeface="NanumGothic"/>
                <a:cs typeface="NanumGothic"/>
              </a:rPr>
              <a:t>6과 9의 공약수를 학생이 찾게 하세요. 1과 3입니다. 3으로 나누면 2/3입니다. 2와 3은 1 말고 공통인 약수가 없으니 기약분수입니다. 검산으로 6/9와 2/3이 같은지, 둘 다 3으로 곱하면 6/9가 되는지 확인하세요.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600">
                <a:solidFill>
                  <a:srgbClr val="172B4D"/>
                </a:solidFill>
                <a:latin typeface="NanumGothic"/>
                <a:latin typeface="NanumGothic"/>
                <a:ea typeface="NanumGothic"/>
                <a:cs typeface="NanumGothic"/>
              </a:rPr>
              <a:t>오개념을 일부러 꺼냅니다. 1/2와 같게 만들려고 위아래 모두에 1을 더하면 2/3이 됩니다. 1/2는 0.5이고 2/3은 약 0.67이라 다릅니다. 같은 수를 더하는 것이 아니라, 0이 아닌 같은 수를 곱하거나 나누어야 크기가 같습니다. 1/2에 2를 곱하면 2/4, 3을 곱하면 3/6입니다. 학생에게 2/4가 정말 반인지 다시 물어보세요.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600">
                <a:solidFill>
                  <a:srgbClr val="172B4D"/>
                </a:solidFill>
                <a:latin typeface="NanumGothic"/>
                <a:latin typeface="NanumGothic"/>
                <a:ea typeface="NanumGothic"/>
                <a:cs typeface="NanumGothic"/>
              </a:rPr>
              <a:t>정리 발문 두 가지를 던지세요. 첫째, 4/8을 약분하면 무엇입니까? 1/2입니다. 둘째, 분자와 분모에 같은 수를 더해도 될까요? 안 됩니다. 다음 시간에는 분모를 같게 만드는 통분으로 크기를 비교한다고 예고하세요. 화면 아래의 초안 문구를 수업 전에 교사가 다시 본다고 마음속에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>
                <a:solidFill>
                  <a:srgbClr val="172B4D"/>
                </a:solidFill>
                <a:latin typeface="NanumGothic"/>
                <a:latin typeface="NanumGothic"/>
                <a:ea typeface="NanumGothic"/>
                <a:cs typeface="NanumGothic"/>
              </a:rPr>
              <a:t>슬라이드 1: 약분과 통분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172B4D"/>
                </a:solidFill>
                <a:latin typeface="NanumGothic"/>
                <a:latin typeface="NanumGothic"/>
                <a:ea typeface="NanumGothic"/>
                <a:cs typeface="NanumGothic"/>
              </a:rPr>
              <a:t>5학년 수학 · 1차시 도입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72B4D"/>
                </a:solidFill>
                <a:latin typeface="NanumGothic"/>
                <a:latin typeface="NanumGothic"/>
                <a:ea typeface="NanumGothic"/>
                <a:cs typeface="NanumGothic"/>
              </a:rPr>
              <a:t>학습 목표: 크기가 같은 분수를 찾고 약분할 수 있다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72B4D"/>
                </a:solidFill>
                <a:latin typeface="NanumGothic"/>
                <a:latin typeface="NanumGothic"/>
                <a:ea typeface="NanumGothic"/>
                <a:cs typeface="NanumGothic"/>
              </a:rPr>
              <a:t>성취기준 [6수01-06]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>
                <a:solidFill>
                  <a:srgbClr val="172B4D"/>
                </a:solidFill>
                <a:latin typeface="NanumGothic"/>
                <a:latin typeface="NanumGothic"/>
                <a:ea typeface="NanumGothic"/>
                <a:cs typeface="NanumGothic"/>
              </a:rPr>
              <a:t>슬라이드 2: 피자 두 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172B4D"/>
                </a:solidFill>
                <a:latin typeface="NanumGothic"/>
                <a:latin typeface="NanumGothic"/>
                <a:ea typeface="NanumGothic"/>
                <a:cs typeface="NanumGothic"/>
              </a:rPr>
              <a:t>한 판은 2조각, 다른 판은 4조각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72B4D"/>
                </a:solidFill>
                <a:latin typeface="NanumGothic"/>
                <a:latin typeface="NanumGothic"/>
                <a:ea typeface="NanumGothic"/>
                <a:cs typeface="NanumGothic"/>
              </a:rPr>
              <a:t>1조각과 2조각, 먹은 양은 같을까요?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72B4D"/>
                </a:solidFill>
                <a:latin typeface="NanumGothic"/>
                <a:latin typeface="NanumGothic"/>
                <a:ea typeface="NanumGothic"/>
                <a:cs typeface="NanumGothic"/>
              </a:rPr>
              <a:t>오늘 배울 질문으로 이어 갑니다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>
                <a:solidFill>
                  <a:srgbClr val="172B4D"/>
                </a:solidFill>
                <a:latin typeface="NanumGothic"/>
                <a:latin typeface="NanumGothic"/>
                <a:ea typeface="NanumGothic"/>
                <a:cs typeface="NanumGothic"/>
              </a:rPr>
              <a:t>슬라이드 3: 오늘의 학습 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172B4D"/>
                </a:solidFill>
                <a:latin typeface="NanumGothic"/>
                <a:latin typeface="NanumGothic"/>
                <a:ea typeface="NanumGothic"/>
                <a:cs typeface="NanumGothic"/>
              </a:rPr>
              <a:t>크기가 같은 분수를 어떻게 만들까?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72B4D"/>
                </a:solidFill>
                <a:latin typeface="NanumGothic"/>
                <a:latin typeface="NanumGothic"/>
                <a:ea typeface="NanumGothic"/>
                <a:cs typeface="NanumGothic"/>
              </a:rPr>
              <a:t>분수를 약분하면 어떤 분수가 될까?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72B4D"/>
                </a:solidFill>
                <a:latin typeface="NanumGothic"/>
                <a:latin typeface="NanumGothic"/>
                <a:ea typeface="NanumGothic"/>
                <a:cs typeface="NanumGothic"/>
              </a:rPr>
              <a:t>기약분수는 더 이상 같은 수로 나눌 수 없는 분수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>
                <a:solidFill>
                  <a:srgbClr val="172B4D"/>
                </a:solidFill>
                <a:latin typeface="NanumGothic"/>
                <a:latin typeface="NanumGothic"/>
                <a:ea typeface="NanumGothic"/>
                <a:cs typeface="NanumGothic"/>
              </a:rPr>
              <a:t>슬라이드 4: 크기가 같은 분수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172B4D"/>
                </a:solidFill>
                <a:latin typeface="NanumGothic"/>
                <a:latin typeface="NanumGothic"/>
                <a:ea typeface="NanumGothic"/>
                <a:cs typeface="NanumGothic"/>
              </a:rPr>
              <a:t>2/4 는 4칸 중 2칸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72B4D"/>
                </a:solidFill>
                <a:latin typeface="NanumGothic"/>
                <a:latin typeface="NanumGothic"/>
                <a:ea typeface="NanumGothic"/>
                <a:cs typeface="NanumGothic"/>
              </a:rPr>
              <a:t>4/8 은 8칸 중 4칸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72B4D"/>
                </a:solidFill>
                <a:latin typeface="NanumGothic"/>
                <a:latin typeface="NanumGothic"/>
                <a:ea typeface="NanumGothic"/>
                <a:cs typeface="NanumGothic"/>
              </a:rPr>
              <a:t>둘 다 전체의 반, 기약분수는 1/2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3886200"/>
            <a:ext cx="2468880" cy="438912"/>
          </a:xfrm>
          <a:prstGeom prst="rect">
            <a:avLst/>
          </a:prstGeom>
          <a:solidFill>
            <a:srgbClr val="176B87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0" y="3886200"/>
            <a:ext cx="2468880" cy="438912"/>
          </a:xfrm>
          <a:prstGeom prst="rect">
            <a:avLst/>
          </a:prstGeom>
          <a:solidFill>
            <a:srgbClr val="176B87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0" y="3886200"/>
            <a:ext cx="24688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0" y="3886200"/>
            <a:ext cx="24688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4480560"/>
            <a:ext cx="1234440" cy="438912"/>
          </a:xfrm>
          <a:prstGeom prst="rect">
            <a:avLst/>
          </a:prstGeom>
          <a:solidFill>
            <a:srgbClr val="176B87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40280" y="4480560"/>
            <a:ext cx="1234440" cy="438912"/>
          </a:xfrm>
          <a:prstGeom prst="rect">
            <a:avLst/>
          </a:prstGeom>
          <a:solidFill>
            <a:srgbClr val="176B87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4480560"/>
            <a:ext cx="1234440" cy="438912"/>
          </a:xfrm>
          <a:prstGeom prst="rect">
            <a:avLst/>
          </a:prstGeom>
          <a:solidFill>
            <a:srgbClr val="176B87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4480560"/>
            <a:ext cx="1234440" cy="438912"/>
          </a:xfrm>
          <a:prstGeom prst="rect">
            <a:avLst/>
          </a:prstGeom>
          <a:solidFill>
            <a:srgbClr val="176B87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4480560"/>
            <a:ext cx="12344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8040" y="4480560"/>
            <a:ext cx="12344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4480560"/>
            <a:ext cx="12344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46920" y="4480560"/>
            <a:ext cx="12344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>
                <a:solidFill>
                  <a:srgbClr val="172B4D"/>
                </a:solidFill>
                <a:latin typeface="NanumGothic"/>
                <a:latin typeface="NanumGothic"/>
                <a:ea typeface="NanumGothic"/>
                <a:cs typeface="NanumGothic"/>
              </a:rPr>
              <a:t>슬라이드 5: 약분해 볼까요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172B4D"/>
                </a:solidFill>
                <a:latin typeface="NanumGothic"/>
                <a:latin typeface="NanumGothic"/>
                <a:ea typeface="NanumGothic"/>
                <a:cs typeface="NanumGothic"/>
              </a:rPr>
              <a:t>6/9 는 분자·분모를 3으로 나눈다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72B4D"/>
                </a:solidFill>
                <a:latin typeface="NanumGothic"/>
                <a:latin typeface="NanumGothic"/>
                <a:ea typeface="NanumGothic"/>
                <a:cs typeface="NanumGothic"/>
              </a:rPr>
              <a:t>6÷3=2, 9÷3=3 이므로 2/3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72B4D"/>
                </a:solidFill>
                <a:latin typeface="NanumGothic"/>
                <a:latin typeface="NanumGothic"/>
                <a:ea typeface="NanumGothic"/>
                <a:cs typeface="NanumGothic"/>
              </a:rPr>
              <a:t>2와 3은 1 외에 공약수가 없다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3886200"/>
            <a:ext cx="1097280" cy="438912"/>
          </a:xfrm>
          <a:prstGeom prst="rect">
            <a:avLst/>
          </a:prstGeom>
          <a:solidFill>
            <a:srgbClr val="176B87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0" y="3886200"/>
            <a:ext cx="1097280" cy="438912"/>
          </a:xfrm>
          <a:prstGeom prst="rect">
            <a:avLst/>
          </a:prstGeom>
          <a:solidFill>
            <a:srgbClr val="176B87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0" y="3886200"/>
            <a:ext cx="1097280" cy="438912"/>
          </a:xfrm>
          <a:prstGeom prst="rect">
            <a:avLst/>
          </a:prstGeom>
          <a:solidFill>
            <a:srgbClr val="176B87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97680" y="3886200"/>
            <a:ext cx="1097280" cy="438912"/>
          </a:xfrm>
          <a:prstGeom prst="rect">
            <a:avLst/>
          </a:prstGeom>
          <a:solidFill>
            <a:srgbClr val="176B87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94960" y="3886200"/>
            <a:ext cx="1097280" cy="438912"/>
          </a:xfrm>
          <a:prstGeom prst="rect">
            <a:avLst/>
          </a:prstGeom>
          <a:solidFill>
            <a:srgbClr val="176B87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3886200"/>
            <a:ext cx="1097280" cy="438912"/>
          </a:xfrm>
          <a:prstGeom prst="rect">
            <a:avLst/>
          </a:prstGeom>
          <a:solidFill>
            <a:srgbClr val="176B87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3886200"/>
            <a:ext cx="10972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0" y="3886200"/>
            <a:ext cx="10972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784080" y="3886200"/>
            <a:ext cx="10972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>
                <a:solidFill>
                  <a:srgbClr val="172B4D"/>
                </a:solidFill>
                <a:latin typeface="NanumGothic"/>
                <a:latin typeface="NanumGothic"/>
                <a:ea typeface="NanumGothic"/>
                <a:cs typeface="NanumGothic"/>
              </a:rPr>
              <a:t>슬라이드 6: 오개념, 같은 수를 더해도 될까?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172B4D"/>
                </a:solidFill>
                <a:latin typeface="NanumGothic"/>
                <a:latin typeface="NanumGothic"/>
                <a:ea typeface="NanumGothic"/>
                <a:cs typeface="NanumGothic"/>
              </a:rPr>
              <a:t>1/2 의 분자·분모에 1을 더하면 2/3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72B4D"/>
                </a:solidFill>
                <a:latin typeface="NanumGothic"/>
                <a:latin typeface="NanumGothic"/>
                <a:ea typeface="NanumGothic"/>
                <a:cs typeface="NanumGothic"/>
              </a:rPr>
              <a:t>1/2 는 0.5, 2/3 은 약 0.67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72B4D"/>
                </a:solidFill>
                <a:latin typeface="NanumGothic"/>
                <a:latin typeface="NanumGothic"/>
                <a:ea typeface="NanumGothic"/>
                <a:cs typeface="NanumGothic"/>
              </a:rPr>
              <a:t>더하기는 크기를 바꾸고, 곱하기는 유지한다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>
                <a:solidFill>
                  <a:srgbClr val="172B4D"/>
                </a:solidFill>
                <a:latin typeface="NanumGothic"/>
                <a:latin typeface="NanumGothic"/>
                <a:ea typeface="NanumGothic"/>
                <a:cs typeface="NanumGothic"/>
              </a:rPr>
              <a:t>슬라이드 7: 오늘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172B4D"/>
                </a:solidFill>
                <a:latin typeface="NanumGothic"/>
                <a:latin typeface="NanumGothic"/>
                <a:ea typeface="NanumGothic"/>
                <a:cs typeface="NanumGothic"/>
              </a:rPr>
              <a:t>같은 수로 곱하거나 나누면 크기가 같다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72B4D"/>
                </a:solidFill>
                <a:latin typeface="NanumGothic"/>
                <a:latin typeface="NanumGothic"/>
                <a:ea typeface="NanumGothic"/>
                <a:cs typeface="NanumGothic"/>
              </a:rPr>
              <a:t>약분은 같은 수로 나누는 것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72B4D"/>
                </a:solidFill>
                <a:latin typeface="NanumGothic"/>
                <a:latin typeface="NanumGothic"/>
                <a:ea typeface="NanumGothic"/>
                <a:cs typeface="NanumGothic"/>
              </a:rPr>
              <a:t>다음 시간: 통분으로 크기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72B4D"/>
                </a:solidFill>
                <a:latin typeface="NanumGothic"/>
                <a:latin typeface="NanumGothic"/>
                <a:ea typeface="NanumGothic"/>
                <a:cs typeface="NanumGothic"/>
              </a:rPr>
              <a:t>※ 초안입니다. 수업 전 반드시 검토하세요.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